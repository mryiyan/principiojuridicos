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ED5E01-D5A4-46D3-A82D-014B20B358D8}">
  <a:tblStyle styleId="{44ED5E01-D5A4-46D3-A82D-014B20B358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10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29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42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Relationship Id="rId10" Type="http://schemas.openxmlformats.org/officeDocument/2006/relationships/image" Target="../media/image41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39.png"/><Relationship Id="rId7" Type="http://schemas.openxmlformats.org/officeDocument/2006/relationships/image" Target="../media/image38.png"/><Relationship Id="rId8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descarg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8462" y="3266225"/>
            <a:ext cx="3255374" cy="32553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390599" y="936025"/>
            <a:ext cx="541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ATHENEA S.A.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1349" y="2643650"/>
            <a:ext cx="762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ACTIVOS FÍSICOS, DIGITALES E INTANGIBLES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83200" y="4242075"/>
            <a:ext cx="264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84350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35600"/>
            <a:ext cx="116016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Índice</a:t>
            </a:r>
            <a:endParaRPr sz="3200"/>
          </a:p>
        </p:txBody>
      </p:sp>
      <p:sp>
        <p:nvSpPr>
          <p:cNvPr id="97" name="Google Shape;97;p14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84350"/>
            <a:ext cx="5334000" cy="35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622500"/>
            <a:ext cx="533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Introducción </a:t>
            </a:r>
            <a:endParaRPr sz="2800"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167211"/>
            <a:ext cx="533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Activos Físicos</a:t>
            </a:r>
            <a:endParaRPr sz="2800"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711922"/>
            <a:ext cx="533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Activos Digitales</a:t>
            </a:r>
            <a:endParaRPr sz="2800"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256633"/>
            <a:ext cx="533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Activos Intangibles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671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34671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3467100"/>
            <a:ext cx="3492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381000"/>
            <a:ext cx="1160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Introducción</a:t>
            </a:r>
            <a:endParaRPr sz="4650"/>
          </a:p>
        </p:txBody>
      </p:sp>
      <p:sp>
        <p:nvSpPr>
          <p:cNvPr id="112" name="Google Shape;112;p15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2571750"/>
            <a:ext cx="10763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Montserrat"/>
                <a:ea typeface="Montserrat"/>
                <a:cs typeface="Montserrat"/>
                <a:sym typeface="Montserrat"/>
              </a:rPr>
              <a:t>Athenea S.A. es un referente educativo en España, consolidado como sociedad anónima dedicada a la alta calidad académica.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2571750"/>
            <a:ext cx="47625" cy="5143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94225" y="447675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25,000+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4933950"/>
            <a:ext cx="29019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Estudiantes Activos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72524" y="447675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17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5074" y="4933950"/>
            <a:ext cx="29019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Centros Educativos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50824" y="447675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4,700+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4933950"/>
            <a:ext cx="290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Plantilla Total (Docentes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/Empleados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3810000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3810000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8562" y="3810000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52500" y="2462212"/>
            <a:ext cx="1123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Activos Físicos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952500" y="3414712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3890962"/>
            <a:ext cx="1123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Infraestructura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ducati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va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Instalaciones Especializadas y RRHH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381000"/>
            <a:ext cx="1160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b="1" lang="en-US" sz="465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 1. Infraestructura Educativa</a:t>
            </a:r>
            <a:endParaRPr sz="4650"/>
          </a:p>
        </p:txBody>
      </p:sp>
      <p:sp>
        <p:nvSpPr>
          <p:cNvPr id="139" name="Google Shape;139;p17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7"/>
          <p:cNvGraphicFramePr/>
          <p:nvPr/>
        </p:nvGraphicFramePr>
        <p:xfrm>
          <a:off x="571500" y="2776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{44ED5E01-D5A4-46D3-A82D-014B20B358D8}</a:tableStyleId>
              </a:tblPr>
              <a:tblGrid>
                <a:gridCol w="2333625"/>
                <a:gridCol w="1265625"/>
                <a:gridCol w="744975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Nivel Educativo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Centros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Detalle de Instituciones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463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Universidades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Universidad Athenea Madrid (UAM), Univ. Athenea Barcelona (UAB)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Institutos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Bachillerato y Formación Profesional (FP)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Educación Básica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Infantil, Primaria y 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Centros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 Centros Propios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7"/>
          <p:cNvSpPr/>
          <p:nvPr/>
        </p:nvSpPr>
        <p:spPr>
          <a:xfrm>
            <a:off x="571500" y="3705225"/>
            <a:ext cx="233362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905125" y="3705225"/>
            <a:ext cx="126563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170759" y="3705225"/>
            <a:ext cx="744974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181475"/>
            <a:ext cx="233362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905125" y="4181475"/>
            <a:ext cx="126563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170759" y="4181475"/>
            <a:ext cx="744974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4657725"/>
            <a:ext cx="233362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905125" y="4657725"/>
            <a:ext cx="126563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170759" y="4657725"/>
            <a:ext cx="744974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5133975"/>
            <a:ext cx="233362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905125" y="5133975"/>
            <a:ext cx="87153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5525"/>
            <a:ext cx="3492549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95525"/>
            <a:ext cx="3492549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95525"/>
            <a:ext cx="3492549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381000"/>
            <a:ext cx="1160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2.2 Instalaciones</a:t>
            </a:r>
            <a:r>
              <a:rPr b="1" lang="en-US" sz="465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Especializadas</a:t>
            </a:r>
            <a:endParaRPr sz="4650"/>
          </a:p>
        </p:txBody>
      </p:sp>
      <p:sp>
        <p:nvSpPr>
          <p:cNvPr id="161" name="Google Shape;161;p18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81362" y="5010150"/>
            <a:ext cx="562927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794225" y="330517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Hospital Univ.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66775" y="3762375"/>
            <a:ext cx="29019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Asociado a la UAM para prácticas clínicas de alto nivel.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572524" y="330517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 Laboratorios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45074" y="3762375"/>
            <a:ext cx="29019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Equipados con impresión 3D, Realidad Virtual e IA.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350824" y="330517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27 Bibliotecas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423374" y="3762375"/>
            <a:ext cx="29019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 universitarias y 19 distribuidas en colegios/institutos.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51000" y="263842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10262" y="2638425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88562" y="2638425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8062"/>
            <a:ext cx="533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57662"/>
            <a:ext cx="533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548062"/>
            <a:ext cx="533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157662"/>
            <a:ext cx="533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48062"/>
            <a:ext cx="533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7662"/>
            <a:ext cx="32004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548062"/>
            <a:ext cx="42672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157662"/>
            <a:ext cx="1333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417575"/>
            <a:ext cx="1160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2.3 Recursos </a:t>
            </a:r>
            <a:r>
              <a:rPr b="1" lang="en-US" sz="465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Humanos</a:t>
            </a:r>
            <a:endParaRPr sz="4650"/>
          </a:p>
        </p:txBody>
      </p:sp>
      <p:sp>
        <p:nvSpPr>
          <p:cNvPr id="186" name="Google Shape;186;p19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2986087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Composición Docente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286500" y="2986087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Apoyo y Administración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286500" y="4633912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*Incluye 100 técnicos especializados en apoyo a la investigación.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3319462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Docentes Universitarios (65% Doctores): 2000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3929062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Docentes Primaria/Secundaria/Bach: </a:t>
            </a:r>
            <a:r>
              <a:rPr b="1" lang="en-US" sz="12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200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286500" y="3319462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Personal de Admin</a:t>
            </a:r>
            <a:r>
              <a:rPr b="1" lang="en-US" sz="1200">
                <a:latin typeface="Montserrat"/>
                <a:ea typeface="Montserrat"/>
                <a:cs typeface="Montserrat"/>
                <a:sym typeface="Montserrat"/>
              </a:rPr>
              <a:t>istración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Servicios: 650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286500" y="3929062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Orientadores (Psicólogos/Pedagogos): 150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952500" y="2462212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03. Activos Digitales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952500" y="3414712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3890962"/>
            <a:ext cx="11239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Plataformas Educativas e Infraestructura Tecnológica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500" y="381000"/>
            <a:ext cx="1160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3.1 </a:t>
            </a:r>
            <a:r>
              <a:rPr b="1" lang="en-US" sz="465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Plataformas Educativas</a:t>
            </a:r>
            <a:endParaRPr sz="4650"/>
          </a:p>
        </p:txBody>
      </p:sp>
      <p:sp>
        <p:nvSpPr>
          <p:cNvPr id="209" name="Google Shape;209;p21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4170"/>
            <a:ext cx="5334000" cy="40182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6800850" y="3181201"/>
            <a:ext cx="481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LMS Personalizado: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Integración de Moodle y Blackboard adaptad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as a las necesidades de cada centro.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696075" y="3781276"/>
            <a:ext cx="4924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 Móvil: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Gestión para estudiantes, familias (seguimiento) y profesores (evaluación).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838950" y="4381351"/>
            <a:ext cx="478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Portal Estudiante: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Centro de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gestión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académica y bibliotecas digitales.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176438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776513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376588"/>
            <a:ext cx="3619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6412"/>
            <a:ext cx="3492549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76412"/>
            <a:ext cx="3492549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76412"/>
            <a:ext cx="3492549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381000"/>
            <a:ext cx="1160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3.2 </a:t>
            </a:r>
            <a:r>
              <a:rPr b="1" lang="en-US" sz="465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Infraestructura Tecnológica</a:t>
            </a:r>
            <a:endParaRPr sz="4650"/>
          </a:p>
        </p:txBody>
      </p:sp>
      <p:sp>
        <p:nvSpPr>
          <p:cNvPr id="226" name="Google Shape;226;p22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33887"/>
            <a:ext cx="11049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94225" y="2786062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Centro de Datos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66775" y="3243262"/>
            <a:ext cx="29019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Arquitectura híbrida con centros propios en Madrid y Barcelona.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572524" y="2786062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WiFi 6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645074" y="3243262"/>
            <a:ext cx="29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Redes de alta velocidad en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todos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campus.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350824" y="2786062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Aulas Híbridas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423374" y="3243262"/>
            <a:ext cx="29019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Sistemas de videoconferencia profesional en todos los centros.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03387" y="211931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29300" y="2119312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31412" y="2119312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952500" y="2462212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04. Activos Intangibles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952500" y="3414712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952500" y="3890950"/>
            <a:ext cx="571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Calidad</a:t>
            </a: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Alianzas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Prestigio de Marca</a:t>
            </a:r>
            <a:endParaRPr b="1" sz="2000"/>
          </a:p>
        </p:txBody>
      </p:sp>
      <p:pic>
        <p:nvPicPr>
          <p:cNvPr id="246" name="Google Shape;2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2000" y="2930302"/>
            <a:ext cx="3628050" cy="36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1008"/>
            <a:ext cx="25717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3750" y="2831008"/>
            <a:ext cx="25717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571500" y="381000"/>
            <a:ext cx="1160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50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Certificaciones y Relaciones</a:t>
            </a:r>
            <a:endParaRPr sz="4650"/>
          </a:p>
        </p:txBody>
      </p:sp>
      <p:sp>
        <p:nvSpPr>
          <p:cNvPr id="255" name="Google Shape;255;p24"/>
          <p:cNvSpPr/>
          <p:nvPr/>
        </p:nvSpPr>
        <p:spPr>
          <a:xfrm>
            <a:off x="0" y="1057275"/>
            <a:ext cx="12192000" cy="9525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2402383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Certificaciones ISO</a:t>
            </a:r>
            <a:endParaRPr/>
          </a:p>
        </p:txBody>
      </p:sp>
      <p:pic>
        <p:nvPicPr>
          <p:cNvPr descr="image.png" id="257" name="Google Shape;25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2875" y="2402383"/>
            <a:ext cx="2381250" cy="158635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6153150" y="4217342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 Global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6286500" y="4684067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463"/>
                </a:solidFill>
                <a:latin typeface="Montserrat"/>
                <a:ea typeface="Montserrat"/>
                <a:cs typeface="Montserrat"/>
                <a:sym typeface="Montserrat"/>
              </a:rPr>
              <a:t>50+ Universidades Extranjeras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6286500" y="5188892"/>
            <a:ext cx="533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Convenios de colaboración y programas de intercambio internacional.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762000" y="4395258"/>
            <a:ext cx="474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Liderazgo: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Refere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nte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privado consolidado en la educación española.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762000" y="3021508"/>
            <a:ext cx="2190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ISO 9001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762000" y="3373933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Calidad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3524250" y="3021508"/>
            <a:ext cx="2190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ISO 14001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3524250" y="3373933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Ambiental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3820715" y="2005012"/>
            <a:ext cx="455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A24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4233862" y="3214687"/>
            <a:ext cx="3724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