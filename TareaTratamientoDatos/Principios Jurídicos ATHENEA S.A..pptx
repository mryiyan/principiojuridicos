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Outfit"/>
      <p:regular r:id="rId21"/>
      <p:bold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A4C495-6B9B-403C-9F9B-70DE1A297D16}">
  <a:tblStyle styleId="{57A4C495-6B9B-403C-9F9B-70DE1A297D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utfit-bold.fntdata"/><Relationship Id="rId21" Type="http://schemas.openxmlformats.org/officeDocument/2006/relationships/font" Target="fonts/Outfit-regular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37.png"/><Relationship Id="rId7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44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6.png"/><Relationship Id="rId7" Type="http://schemas.openxmlformats.org/officeDocument/2006/relationships/image" Target="../media/image46.png"/><Relationship Id="rId8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40.png"/><Relationship Id="rId8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Relationship Id="rId7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title="descarg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062" y="0"/>
            <a:ext cx="2853925" cy="28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014787" y="2410717"/>
            <a:ext cx="41625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Outfit"/>
                <a:ea typeface="Outfit"/>
                <a:cs typeface="Outfit"/>
                <a:sym typeface="Outfit"/>
              </a:rPr>
              <a:t>INSPECCIÓN CANCERBERO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85411" y="3180308"/>
            <a:ext cx="942117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PRINCIPIOS </a:t>
            </a:r>
            <a:r>
              <a:rPr b="1" i="0" lang="en-US" sz="6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JURÍDICOS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33587" y="4228058"/>
            <a:ext cx="3990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M. Zamora (CISO) • A. Jiang (CDO) • I. Santillán (CEO)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167437" y="4228058"/>
            <a:ext cx="399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B. Rodriguez (CIO) • A. Zhou • I. Morán (</a:t>
            </a:r>
            <a:r>
              <a:rPr lang="en-US" sz="135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DPD)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95475"/>
            <a:ext cx="52768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2595562"/>
            <a:ext cx="5276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Constituida como sociedad anónima, ATHENEA S.A. es referente en la gestión de centros educativos de alta calidad en España.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05000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009650" y="3681412"/>
            <a:ext cx="4848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Educación Primaria hasta formación Universitaria.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9650" y="418623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Inspección técnica programada: </a:t>
            </a: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17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febrero de 2026.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9650" y="4691062"/>
            <a:ext cx="4848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Marco normativo: RGPD y LOPDGDD.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147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19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72440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ATHENEA S.A. Contexto Operativo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581025" y="2387947"/>
            <a:ext cx="11029950" cy="3015555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5"/>
          <p:cNvGraphicFramePr/>
          <p:nvPr/>
        </p:nvGraphicFramePr>
        <p:xfrm>
          <a:off x="581025" y="23879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{57A4C495-6B9B-403C-9F9B-70DE1A297D16}</a:tableStyleId>
              </a:tblPr>
              <a:tblGrid>
                <a:gridCol w="2322025"/>
                <a:gridCol w="8707925"/>
              </a:tblGrid>
              <a:tr h="60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DEFF9A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Categoría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DEFF9A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Datos Incluidos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Identidad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Nombre, DNI/NIE/Pasaporte, Fecha de nacimiento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Contacto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Domicilio, Teléfono, Correo electrónico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Académicos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Calificaciones, Titulaciones, Evaluaciones, Asistencia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Salud y NEE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Alergias, Informes psicopedagógicos, Necesidades especiales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15"/>
          <p:cNvSpPr/>
          <p:nvPr/>
        </p:nvSpPr>
        <p:spPr>
          <a:xfrm>
            <a:off x="581025" y="2912715"/>
            <a:ext cx="23220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903041" y="2912715"/>
            <a:ext cx="870793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81025" y="3531840"/>
            <a:ext cx="23220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2903041" y="3531840"/>
            <a:ext cx="870793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81025" y="4150965"/>
            <a:ext cx="23220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903041" y="4150965"/>
            <a:ext cx="870793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81025" y="4770090"/>
            <a:ext cx="23220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2903041" y="4770090"/>
            <a:ext cx="870793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81025" y="5389215"/>
            <a:ext cx="23220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903041" y="5389215"/>
            <a:ext cx="870793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Datos Tratados: Alumnado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581025" y="2697509"/>
            <a:ext cx="5276850" cy="2396430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16"/>
          <p:cNvGraphicFramePr/>
          <p:nvPr/>
        </p:nvGraphicFramePr>
        <p:xfrm>
          <a:off x="581025" y="26975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{57A4C495-6B9B-403C-9F9B-70DE1A297D16}</a:tableStyleId>
              </a:tblPr>
              <a:tblGrid>
                <a:gridCol w="1701100"/>
                <a:gridCol w="3575750"/>
              </a:tblGrid>
              <a:tr h="5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DEFF9A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Categoría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DEFF9A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Identidad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Nombres y DNI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Contacto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Teléfono, Email, Dirección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Económicos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Cuenta bancaria (domiciliación)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16"/>
          <p:cNvSpPr txBox="1"/>
          <p:nvPr/>
        </p:nvSpPr>
        <p:spPr>
          <a:xfrm>
            <a:off x="6334125" y="351948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Sensibilidad Financiera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34125" y="373856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Tratamos datos bancarios vinculados al pago de matrículas bajo un marco legal estricto de confidencialidad.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3222277"/>
            <a:ext cx="17011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282130" y="3222277"/>
            <a:ext cx="3575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81025" y="3841402"/>
            <a:ext cx="17011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282130" y="3841402"/>
            <a:ext cx="3575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81025" y="4460527"/>
            <a:ext cx="17011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282130" y="4460527"/>
            <a:ext cx="3575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81025" y="5079652"/>
            <a:ext cx="17011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282130" y="5079652"/>
            <a:ext cx="3575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Datos: Familias y Tutores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91879"/>
            <a:ext cx="3517850" cy="2007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000" y="2891879"/>
            <a:ext cx="3517850" cy="2007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2975" y="2891879"/>
            <a:ext cx="3517850" cy="200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876300" y="3806279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Identidad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76300" y="4177754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DNI y Número de Seguridad Social para trámites obligatorios.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32275" y="3806279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Laborales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32275" y="4177754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Nóminas, formación académica y títulos profesionales.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388250" y="3806279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Salud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388250" y="4177754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Gestión de bajas médicas para el control de ausencias laborales.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234779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2275" y="323477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8250" y="323477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Datos: Profesorado y PAS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95475"/>
            <a:ext cx="52768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05000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009650" y="2738437"/>
            <a:ext cx="4848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Plataforma Académica: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Expedientes, matrículas, asignaturas y becas. Datos personales de alta criticidad.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09650" y="3509962"/>
            <a:ext cx="4848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Aprendizaje Virtual: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Recursos digitales, evaluaciones y canal de comunicación docente-alumno.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09650" y="4281487"/>
            <a:ext cx="4848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Admin y Economía: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Gestión de pagos, nóminas y cuentas domiciliadas.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717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5433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314825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Sistemas de Información I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5654"/>
            <a:ext cx="5395912" cy="2007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615654"/>
            <a:ext cx="5395912" cy="200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81025" y="4909095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*Extremamos la cautela en grabaciones donde participan menores de edad.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76300" y="3530054"/>
            <a:ext cx="504563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Aulas Inteligentes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76300" y="3901529"/>
            <a:ext cx="4805362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Grabación de clases y docencia híbrida. Requiere consentimiento explícito para imagen y voz.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510337" y="3530054"/>
            <a:ext cx="504563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Bibliotecas Digitales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510337" y="3901529"/>
            <a:ext cx="4805362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Acceso a material académico e historial de uso (búsquedas y descargas).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958554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0337" y="2958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Sistemas de Información II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009650" y="2886075"/>
            <a:ext cx="10601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Art. 6.1.e: Interés Público.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Gestión académica, expedientes y evaluación educativa.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009650" y="3390900"/>
            <a:ext cx="10601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Art. 6.1.c: Obligación Legal.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Cumplimiento de normativa educativa y laboral vigente.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09650" y="3895725"/>
            <a:ext cx="10601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Art. 6.1.b: Ejecución de Contrato.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Matrículas de estudiantes y relaciones laborales.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009650" y="4400550"/>
            <a:ext cx="10601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Art. 6.1.a: Consentimiento.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Publicación de imágenes en web o redes sociales.</a:t>
            </a:r>
            <a:endParaRPr/>
          </a:p>
        </p:txBody>
      </p:sp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194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242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2906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33887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Bases de Legitimación (RGPD)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95475"/>
            <a:ext cx="52768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05000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1009650" y="2871787"/>
            <a:ext cx="4848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Identidad y Contacto: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Durante la matrícula + 5 años de bloqueo.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009650" y="3643312"/>
            <a:ext cx="4848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Datos Académicos: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Conservación Permanente según normativa de titulación.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1009650" y="4414837"/>
            <a:ext cx="4848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Salud: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Durante la matrícula + 5 años bloqueados.</a:t>
            </a:r>
            <a:endParaRPr/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9051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676650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44817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Plazos de Conservación: Alumnado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94732"/>
            <a:ext cx="3517850" cy="1601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000" y="3094732"/>
            <a:ext cx="3517850" cy="1601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2975" y="3094732"/>
            <a:ext cx="3517850" cy="160183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876300" y="3390007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Familias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76300" y="3761482"/>
            <a:ext cx="29273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Identidad: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Matrícula + 5 años.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76300" y="3974752"/>
            <a:ext cx="29273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Económicos: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5 años según normativa fiscal.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632275" y="3390007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Personal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632275" y="3761482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Laboral: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Fin de relación + 4 años (Seg. Social).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632275" y="4188023"/>
            <a:ext cx="29273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Fiscal: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Fin de relación + 6 años.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388250" y="3390007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Salud Laboral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388250" y="3761482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Mantenidos bloqueados según plazos legales de prevención de riesgos.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Conservación: Otros Colectivos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91879"/>
            <a:ext cx="3517850" cy="2007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000" y="2891879"/>
            <a:ext cx="3517850" cy="2007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2975" y="2891879"/>
            <a:ext cx="3517850" cy="200769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876300" y="3806279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Cifrado Integral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76300" y="4177754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Comunicaciones internas/externas y bases de datos sensibles.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632275" y="3806279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MFA Crítico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632275" y="4177754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Autenticación multifactorial (3 formas) y RSA para sistemas críticos.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8388250" y="3806279"/>
            <a:ext cx="30736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Mínimo Privilegio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388250" y="4177754"/>
            <a:ext cx="2927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Permisos granulares asignados estrictamente por función laboral.</a:t>
            </a:r>
            <a:endParaRPr/>
          </a:p>
        </p:txBody>
      </p:sp>
      <p:pic>
        <p:nvPicPr>
          <p:cNvPr descr="image.png" id="256" name="Google Shape;25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234779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2275" y="323477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8250" y="3234779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Medidas de Seguridad I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95475"/>
            <a:ext cx="52768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05000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1009650" y="2738437"/>
            <a:ext cx="4848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Trazabilidad: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Auditoría de accesos para rastrear movimientos y detectar ciberataques.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1009650" y="3509962"/>
            <a:ext cx="4848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Segmentación: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División de redes para aislar entornos educativos de los administrativos.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1009650" y="4281487"/>
            <a:ext cx="4848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Acceso Remoto: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Túneles seguros con cifrado de extremo a extremo y doble confirmación.</a:t>
            </a:r>
            <a:endParaRPr/>
          </a:p>
        </p:txBody>
      </p:sp>
      <p:pic>
        <p:nvPicPr>
          <p:cNvPr descr="image.png" id="271" name="Google Shape;27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717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5433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31482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Medidas de Seguridad II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228882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5050869" y="3336577"/>
            <a:ext cx="209026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Turno de </a:t>
            </a: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Preguntas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4291012" y="3803302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Dpto. Protección de Datos • ATHENEA S.A.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4795837" y="4355752"/>
            <a:ext cx="26003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Versión Académica - Seguridad Activa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/>
          <p:nvPr/>
        </p:nvSpPr>
        <p:spPr>
          <a:xfrm>
            <a:off x="581025" y="2226319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581025" y="2997844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581025" y="3769369"/>
            <a:ext cx="1102995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581025" y="29883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581025" y="29883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581025" y="375984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81025" y="375984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81025" y="46624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581025" y="46624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691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1676400" y="2390179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https://www.apollotechnical.com/wp-content/uploads/2025/03/building-1024x795.png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1676400" y="2611040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www.apollotechnical.com</a:t>
            </a:r>
            <a:endParaRPr/>
          </a:p>
        </p:txBody>
      </p:sp>
      <p:pic>
        <p:nvPicPr>
          <p:cNvPr descr="image.png" id="302" name="Google Shape;30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407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1676400" y="316170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https://iol-prod.appspot.com/image/7f8dc8821bbe6b83e53e3e51132d8abdb252a2d3=w700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1676400" y="338256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thestar.co.za</a:t>
            </a:r>
            <a:endParaRPr/>
          </a:p>
        </p:txBody>
      </p:sp>
      <p:pic>
        <p:nvPicPr>
          <p:cNvPr descr="image.png" id="305" name="Google Shape;30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7772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1676400" y="3912244"/>
            <a:ext cx="99345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https://elements-resized.envatousercontent.com/elements-video-cover-images/d0a43a03-9f72-4dc2-bfe1-3afe1b6f70a9/video_preview/video_preview_0000.jpg?w=1200&amp;h=630&amp;cf_fit=crop&amp;q=85&amp;format=jpeg&amp;s=5f80bce45ead5cd9c2726241f77031774f74100ea15e1280fd5b19e474f3c1c8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1676400" y="4306341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elements.envato.com</a:t>
            </a:r>
            <a:endParaRPr/>
          </a:p>
        </p:txBody>
      </p:sp>
      <p:pic>
        <p:nvPicPr>
          <p:cNvPr descr="image.png" id="308" name="Google Shape;30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8803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1676400" y="4814887"/>
            <a:ext cx="99345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https://static.vecteezy.com/system/resources/previews/070/628/675/non_2x/data-center-server-room-modern-it-infrastructure-with-rows-of-rack-servers-in-a-secure-environment-photo.jpeg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1676400" y="5208984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www.vecteezy.com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